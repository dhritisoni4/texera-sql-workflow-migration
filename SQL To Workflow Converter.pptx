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oboto Mon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11" Type="http://schemas.openxmlformats.org/officeDocument/2006/relationships/slide" Target="slides/slide6.xml"/><Relationship Id="rId22" Type="http://schemas.openxmlformats.org/officeDocument/2006/relationships/font" Target="fonts/RobotoMono-boldItalic.fntdata"/><Relationship Id="rId10" Type="http://schemas.openxmlformats.org/officeDocument/2006/relationships/slide" Target="slides/slide5.xml"/><Relationship Id="rId21" Type="http://schemas.openxmlformats.org/officeDocument/2006/relationships/font" Target="fonts/RobotoMon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Mon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03875f3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03875f3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1dd1d656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1dd1d656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1dd1d656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1dd1d656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27eb52b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27eb52b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27eb52b1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27eb52b1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03875f39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03875f3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03875f39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03875f39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1dd1d656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1dd1d656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1dd1d656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1dd1d656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1dd1d656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1dd1d656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03875f39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03875f39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03875f39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03875f39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IBk0Eis8Uqo" TargetMode="Externa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SQL To Workflow Converter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lnSpc>
                <a:spcPct val="115000"/>
              </a:lnSpc>
              <a:spcBef>
                <a:spcPts val="1200"/>
              </a:spcBef>
              <a:spcAft>
                <a:spcPts val="0"/>
              </a:spcAft>
              <a:buClr>
                <a:schemeClr val="dk1"/>
              </a:buClr>
              <a:buSzPct val="39286"/>
              <a:buFont typeface="Arial"/>
              <a:buNone/>
            </a:pPr>
            <a:r>
              <a:rPr lang="en"/>
              <a:t>Converting declarative SQL queries into executable visual workflows using logical plans</a:t>
            </a:r>
            <a:endParaRPr/>
          </a:p>
          <a:p>
            <a:pPr indent="0" lvl="0" marL="0" rtl="0" algn="ctr">
              <a:spcBef>
                <a:spcPts val="12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SQL is a widely used declarative language for querying and analyzing data</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Visual workflow systems like Texera model analytics as operator-based pipelines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SQL specifies what result is required, while workflows define how the result is produced</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Bridging these two paradigms enables SQL users to leverage visual analytics systems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This project focuses on automatically converting SQL queries into equivalent Texera workflows</a:t>
            </a:r>
            <a:endParaRPr sz="1600">
              <a:solidFill>
                <a:schemeClr val="dk1"/>
              </a:solidFill>
            </a:endParaRPr>
          </a:p>
          <a:p>
            <a:pPr indent="0" lvl="0" marL="45720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solidFill>
                  <a:schemeClr val="dk1"/>
                </a:solidFill>
              </a:rPr>
              <a:t>1. </a:t>
            </a:r>
            <a:r>
              <a:rPr b="1" lang="en" sz="1100">
                <a:solidFill>
                  <a:schemeClr val="dk1"/>
                </a:solidFill>
              </a:rPr>
              <a:t> Education &amp; Accessibility</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SQL and workflow systems often require expert knowledge; beginners struggle to translate queries into executable workflows.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By converting SQL → Texera workflows automatically, users can visualize query execution, understand data flow, and learn database concepts interactively.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Impact: Makes database operations and analytics transparent and approachable, promoting hands-on learning.</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2. Collaboration &amp; Extensibility</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Generated workflows provide a shared, visual artifact that teams can inspect, modify, and extend.</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Enables cross-language augmentation: Python UDFs, custom analytics, or integration with other operators can be layered on top of the SQL-generated workflow.</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Impact: Teams can collaboratively experiment, combine SQL logic with other computational tools, and scale analysis across heterogeneous datasets.</a:t>
            </a:r>
            <a:endParaRPr sz="1100">
              <a:solidFill>
                <a:schemeClr val="dk1"/>
              </a:solidFill>
            </a:endParaRPr>
          </a:p>
          <a:p>
            <a:pPr indent="0" lvl="0" marL="457200" rtl="0" algn="l">
              <a:spcBef>
                <a:spcPts val="1200"/>
              </a:spcBef>
              <a:spcAft>
                <a:spcPts val="1200"/>
              </a:spcAft>
              <a:buNone/>
            </a:pPr>
            <a:r>
              <a:t/>
            </a:r>
            <a:endParaRPr sz="1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solidFill>
                  <a:schemeClr val="dk1"/>
                </a:solidFill>
              </a:rPr>
              <a:t>1. </a:t>
            </a:r>
            <a:r>
              <a:rPr b="1" lang="en" sz="1100">
                <a:solidFill>
                  <a:schemeClr val="dk1"/>
                </a:solidFill>
              </a:rPr>
              <a:t>Hybrid Metadata Inference for CSVs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CSVs lack schema/type guarantees → unlike DBMS tables.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Handle missing headers, type mismatches, and malformed rows.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Impact: Accurate operator mapping and system compatibility.</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2. Operator Mapping from SQL to Texera Workflow</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Map SQL logical operators → workflow operators (filters, joins, aggregates, projections).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Recursive traversal ensures correctness and reproducibility.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Impact: Users can “compile” SQL queries into visual, executable workflows.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3. Logical Plan–Aware Optimization</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Naive workflow generation produces redundant operators &amp; late filters, increasing runtime and memory.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Solution: Push down filters/projections, reorder joins heuristically, reduce intermediate data.</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Impact: More efficient workflows without needing full physical cost modeling, improving performance across diverse CSV datasets</a:t>
            </a:r>
            <a:endParaRPr sz="1100">
              <a:solidFill>
                <a:schemeClr val="dk1"/>
              </a:solidFill>
            </a:endParaRPr>
          </a:p>
          <a:p>
            <a:pPr indent="0" lvl="0" marL="457200" rtl="0" algn="l">
              <a:spcBef>
                <a:spcPts val="1200"/>
              </a:spcBef>
              <a:spcAft>
                <a:spcPts val="1200"/>
              </a:spcAft>
              <a:buNone/>
            </a:pPr>
            <a:r>
              <a:t/>
            </a:r>
            <a:endParaRPr sz="13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Elaboration on Logical Plan Optimization</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0" name="Google Shape;80;p17" title="Screenshot 2026-01-05 at 10.15.42.png"/>
          <p:cNvPicPr preferRelativeResize="0"/>
          <p:nvPr/>
        </p:nvPicPr>
        <p:blipFill>
          <a:blip r:embed="rId3">
            <a:alphaModFix/>
          </a:blip>
          <a:stretch>
            <a:fillRect/>
          </a:stretch>
        </p:blipFill>
        <p:spPr>
          <a:xfrm>
            <a:off x="985725" y="1332950"/>
            <a:ext cx="7667101" cy="2958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Elaboration on Logical Plan Optimization</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Pushing filters below joins is essential for both efficiency and correctness in workflow-based systems.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While relational databases implicitly reorder operators, workflow engines execute operators in a fixed, user-defined order.</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Without logical plan optimization, relation-specific predicates can only be evaluated after the join, leading to large intermediate results and unnecessary computation.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By analyzing the logical plan, our system decomposes predicates and applies them to the appropriate inputs before the join, producing workflows that are both semantically faithful to SQL and significantly more efficient.</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Architecture diagram</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3" name="Google Shape;93;p19" title="SQL_to_Workflow_Texera.drawio.png"/>
          <p:cNvPicPr preferRelativeResize="0"/>
          <p:nvPr/>
        </p:nvPicPr>
        <p:blipFill>
          <a:blip r:embed="rId3">
            <a:alphaModFix/>
          </a:blip>
          <a:stretch>
            <a:fillRect/>
          </a:stretch>
        </p:blipFill>
        <p:spPr>
          <a:xfrm>
            <a:off x="119975" y="434067"/>
            <a:ext cx="8712324" cy="44982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Service diagram</a:t>
            </a:r>
            <a:endParaRPr/>
          </a:p>
        </p:txBody>
      </p:sp>
      <p:pic>
        <p:nvPicPr>
          <p:cNvPr id="99" name="Google Shape;99;p20" title="Screenshot 2026-03-17 at 18.57.06.png"/>
          <p:cNvPicPr preferRelativeResize="0"/>
          <p:nvPr/>
        </p:nvPicPr>
        <p:blipFill>
          <a:blip r:embed="rId3">
            <a:alphaModFix/>
          </a:blip>
          <a:stretch>
            <a:fillRect/>
          </a:stretch>
        </p:blipFill>
        <p:spPr>
          <a:xfrm>
            <a:off x="645275" y="1017725"/>
            <a:ext cx="7740383" cy="382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Parsing SQL Query to Logical Plan</a:t>
            </a:r>
            <a:endParaRPr/>
          </a:p>
        </p:txBody>
      </p:sp>
      <p:sp>
        <p:nvSpPr>
          <p:cNvPr id="105" name="Google Shape;105;p21"/>
          <p:cNvSpPr txBox="1"/>
          <p:nvPr>
            <p:ph idx="1" type="body"/>
          </p:nvPr>
        </p:nvSpPr>
        <p:spPr>
          <a:xfrm>
            <a:off x="311700" y="1152475"/>
            <a:ext cx="5900700" cy="34164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Char char="●"/>
            </a:pPr>
            <a:r>
              <a:rPr lang="en" sz="1300">
                <a:solidFill>
                  <a:schemeClr val="dk1"/>
                </a:solidFill>
              </a:rPr>
              <a:t>Direct SQL parsing is insufficient to determine correct execution order</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Logical plans explicitly represent operators and their dependencies</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Using logical plans allows the system to preserve SQL semantics and handle complex queries in a structured manner</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Apache Calcite is used as the SQL parser and optimizer to generate validated logical plans</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Leveraging Calcite avoids implementing a custom SQL parser and ensures standards-compliant query handling</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Logical plans serve as a reliable intermediate representation for workflow generation</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The optimizer ensures SQL queries are represented in a form that can be reliably mapped to workflow operators.</a:t>
            </a:r>
            <a:endParaRPr sz="1300">
              <a:solidFill>
                <a:schemeClr val="dk1"/>
              </a:solidFill>
            </a:endParaRPr>
          </a:p>
          <a:p>
            <a:pPr indent="0" lvl="0" marL="457200" rtl="0" algn="l">
              <a:spcBef>
                <a:spcPts val="0"/>
              </a:spcBef>
              <a:spcAft>
                <a:spcPts val="1200"/>
              </a:spcAft>
              <a:buNone/>
            </a:pPr>
            <a:r>
              <a:t/>
            </a:r>
            <a:endParaRPr sz="1100">
              <a:solidFill>
                <a:schemeClr val="dk1"/>
              </a:solidFill>
            </a:endParaRPr>
          </a:p>
        </p:txBody>
      </p:sp>
      <p:pic>
        <p:nvPicPr>
          <p:cNvPr id="106" name="Google Shape;106;p21" title="Screenshot 2025-12-19 at 12.42.23.png"/>
          <p:cNvPicPr preferRelativeResize="0"/>
          <p:nvPr/>
        </p:nvPicPr>
        <p:blipFill>
          <a:blip r:embed="rId3">
            <a:alphaModFix/>
          </a:blip>
          <a:stretch>
            <a:fillRect/>
          </a:stretch>
        </p:blipFill>
        <p:spPr>
          <a:xfrm>
            <a:off x="6487500" y="1267900"/>
            <a:ext cx="2176475" cy="920825"/>
          </a:xfrm>
          <a:prstGeom prst="rect">
            <a:avLst/>
          </a:prstGeom>
          <a:noFill/>
          <a:ln>
            <a:noFill/>
          </a:ln>
        </p:spPr>
      </p:pic>
      <p:pic>
        <p:nvPicPr>
          <p:cNvPr id="107" name="Google Shape;107;p21" title="Screenshot 2025-12-19 at 12.42.33.png"/>
          <p:cNvPicPr preferRelativeResize="0"/>
          <p:nvPr/>
        </p:nvPicPr>
        <p:blipFill>
          <a:blip r:embed="rId4">
            <a:alphaModFix/>
          </a:blip>
          <a:stretch>
            <a:fillRect/>
          </a:stretch>
        </p:blipFill>
        <p:spPr>
          <a:xfrm>
            <a:off x="6248425" y="2920325"/>
            <a:ext cx="2654624" cy="717250"/>
          </a:xfrm>
          <a:prstGeom prst="rect">
            <a:avLst/>
          </a:prstGeom>
          <a:noFill/>
          <a:ln>
            <a:noFill/>
          </a:ln>
        </p:spPr>
      </p:pic>
      <p:sp>
        <p:nvSpPr>
          <p:cNvPr id="108" name="Google Shape;108;p21"/>
          <p:cNvSpPr/>
          <p:nvPr/>
        </p:nvSpPr>
        <p:spPr>
          <a:xfrm>
            <a:off x="7217850" y="2268175"/>
            <a:ext cx="613800" cy="572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Operator Mapping</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dk1"/>
                </a:solidFill>
              </a:rPr>
              <a:t>Each relational operator in the logical plan is mapped to a Texera workflow operator using our custom </a:t>
            </a:r>
            <a:r>
              <a:rPr lang="en" sz="1300">
                <a:solidFill>
                  <a:schemeClr val="dk1"/>
                </a:solidFill>
                <a:latin typeface="Roboto Mono"/>
                <a:ea typeface="Roboto Mono"/>
                <a:cs typeface="Roboto Mono"/>
                <a:sym typeface="Roboto Mono"/>
              </a:rPr>
              <a:t>Texera Converter</a:t>
            </a:r>
            <a:endParaRPr sz="13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300">
                <a:solidFill>
                  <a:schemeClr val="dk1"/>
                </a:solidFill>
              </a:rPr>
              <a:t>Mapping examples:</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rgbClr val="188038"/>
                </a:solidFill>
                <a:latin typeface="Roboto Mono"/>
                <a:ea typeface="Roboto Mono"/>
                <a:cs typeface="Roboto Mono"/>
                <a:sym typeface="Roboto Mono"/>
              </a:rPr>
              <a:t>LogicalTableScan</a:t>
            </a:r>
            <a:r>
              <a:rPr lang="en" sz="1300">
                <a:solidFill>
                  <a:schemeClr val="dk1"/>
                </a:solidFill>
              </a:rPr>
              <a:t> → </a:t>
            </a:r>
            <a:r>
              <a:rPr lang="en" sz="1300">
                <a:solidFill>
                  <a:srgbClr val="188038"/>
                </a:solidFill>
                <a:latin typeface="Roboto Mono"/>
                <a:ea typeface="Roboto Mono"/>
                <a:cs typeface="Roboto Mono"/>
                <a:sym typeface="Roboto Mono"/>
              </a:rPr>
              <a:t>CSVFileScan</a:t>
            </a:r>
            <a:endParaRPr sz="1300">
              <a:solidFill>
                <a:srgbClr val="188038"/>
              </a:solidFill>
              <a:latin typeface="Roboto Mono"/>
              <a:ea typeface="Roboto Mono"/>
              <a:cs typeface="Roboto Mono"/>
              <a:sym typeface="Roboto Mono"/>
            </a:endParaRPr>
          </a:p>
          <a:p>
            <a:pPr indent="-311150" lvl="0" marL="457200" rtl="0" algn="l">
              <a:spcBef>
                <a:spcPts val="0"/>
              </a:spcBef>
              <a:spcAft>
                <a:spcPts val="0"/>
              </a:spcAft>
              <a:buClr>
                <a:schemeClr val="dk1"/>
              </a:buClr>
              <a:buSzPts val="1300"/>
              <a:buChar char="●"/>
            </a:pPr>
            <a:r>
              <a:rPr lang="en" sz="1300">
                <a:solidFill>
                  <a:srgbClr val="188038"/>
                </a:solidFill>
                <a:latin typeface="Roboto Mono"/>
                <a:ea typeface="Roboto Mono"/>
                <a:cs typeface="Roboto Mono"/>
                <a:sym typeface="Roboto Mono"/>
              </a:rPr>
              <a:t>LogicalFilter</a:t>
            </a:r>
            <a:r>
              <a:rPr lang="en" sz="1300">
                <a:solidFill>
                  <a:schemeClr val="dk1"/>
                </a:solidFill>
              </a:rPr>
              <a:t> → </a:t>
            </a:r>
            <a:r>
              <a:rPr lang="en" sz="1300">
                <a:solidFill>
                  <a:srgbClr val="188038"/>
                </a:solidFill>
                <a:latin typeface="Roboto Mono"/>
                <a:ea typeface="Roboto Mono"/>
                <a:cs typeface="Roboto Mono"/>
                <a:sym typeface="Roboto Mono"/>
              </a:rPr>
              <a:t>Filter</a:t>
            </a:r>
            <a:endParaRPr sz="1300">
              <a:solidFill>
                <a:srgbClr val="188038"/>
              </a:solidFill>
              <a:latin typeface="Roboto Mono"/>
              <a:ea typeface="Roboto Mono"/>
              <a:cs typeface="Roboto Mono"/>
              <a:sym typeface="Roboto Mono"/>
            </a:endParaRPr>
          </a:p>
          <a:p>
            <a:pPr indent="-311150" lvl="0" marL="457200" rtl="0" algn="l">
              <a:spcBef>
                <a:spcPts val="0"/>
              </a:spcBef>
              <a:spcAft>
                <a:spcPts val="0"/>
              </a:spcAft>
              <a:buClr>
                <a:schemeClr val="dk1"/>
              </a:buClr>
              <a:buSzPts val="1300"/>
              <a:buChar char="●"/>
            </a:pPr>
            <a:r>
              <a:rPr lang="en" sz="1300">
                <a:solidFill>
                  <a:srgbClr val="188038"/>
                </a:solidFill>
                <a:latin typeface="Roboto Mono"/>
                <a:ea typeface="Roboto Mono"/>
                <a:cs typeface="Roboto Mono"/>
                <a:sym typeface="Roboto Mono"/>
              </a:rPr>
              <a:t>LogicalProject</a:t>
            </a:r>
            <a:r>
              <a:rPr lang="en" sz="1300">
                <a:solidFill>
                  <a:schemeClr val="dk1"/>
                </a:solidFill>
              </a:rPr>
              <a:t> → </a:t>
            </a:r>
            <a:r>
              <a:rPr lang="en" sz="1300">
                <a:solidFill>
                  <a:srgbClr val="188038"/>
                </a:solidFill>
                <a:latin typeface="Roboto Mono"/>
                <a:ea typeface="Roboto Mono"/>
                <a:cs typeface="Roboto Mono"/>
                <a:sym typeface="Roboto Mono"/>
              </a:rPr>
              <a:t>Projection</a:t>
            </a:r>
            <a:endParaRPr sz="1300">
              <a:solidFill>
                <a:srgbClr val="188038"/>
              </a:solidFill>
              <a:latin typeface="Roboto Mono"/>
              <a:ea typeface="Roboto Mono"/>
              <a:cs typeface="Roboto Mono"/>
              <a:sym typeface="Roboto Mono"/>
            </a:endParaRPr>
          </a:p>
          <a:p>
            <a:pPr indent="-311150" lvl="0" marL="457200" rtl="0" algn="l">
              <a:spcBef>
                <a:spcPts val="0"/>
              </a:spcBef>
              <a:spcAft>
                <a:spcPts val="0"/>
              </a:spcAft>
              <a:buClr>
                <a:schemeClr val="dk1"/>
              </a:buClr>
              <a:buSzPts val="1300"/>
              <a:buChar char="●"/>
            </a:pPr>
            <a:r>
              <a:rPr lang="en" sz="1300">
                <a:solidFill>
                  <a:srgbClr val="188038"/>
                </a:solidFill>
                <a:latin typeface="Roboto Mono"/>
                <a:ea typeface="Roboto Mono"/>
                <a:cs typeface="Roboto Mono"/>
                <a:sym typeface="Roboto Mono"/>
              </a:rPr>
              <a:t>LogicalAggregate</a:t>
            </a:r>
            <a:r>
              <a:rPr lang="en" sz="1300">
                <a:solidFill>
                  <a:schemeClr val="dk1"/>
                </a:solidFill>
              </a:rPr>
              <a:t> → </a:t>
            </a:r>
            <a:r>
              <a:rPr lang="en" sz="1300">
                <a:solidFill>
                  <a:srgbClr val="188038"/>
                </a:solidFill>
                <a:latin typeface="Roboto Mono"/>
                <a:ea typeface="Roboto Mono"/>
                <a:cs typeface="Roboto Mono"/>
                <a:sym typeface="Roboto Mono"/>
              </a:rPr>
              <a:t>Aggregate</a:t>
            </a:r>
            <a:endParaRPr sz="1300">
              <a:solidFill>
                <a:srgbClr val="188038"/>
              </a:solidFill>
              <a:latin typeface="Roboto Mono"/>
              <a:ea typeface="Roboto Mono"/>
              <a:cs typeface="Roboto Mono"/>
              <a:sym typeface="Roboto Mono"/>
            </a:endParaRPr>
          </a:p>
          <a:p>
            <a:pPr indent="-311150" lvl="0" marL="457200" rtl="0" algn="l">
              <a:spcBef>
                <a:spcPts val="0"/>
              </a:spcBef>
              <a:spcAft>
                <a:spcPts val="0"/>
              </a:spcAft>
              <a:buClr>
                <a:schemeClr val="dk1"/>
              </a:buClr>
              <a:buSzPts val="1300"/>
              <a:buChar char="●"/>
            </a:pPr>
            <a:r>
              <a:rPr lang="en" sz="1300">
                <a:solidFill>
                  <a:srgbClr val="188038"/>
                </a:solidFill>
                <a:latin typeface="Roboto Mono"/>
                <a:ea typeface="Roboto Mono"/>
                <a:cs typeface="Roboto Mono"/>
                <a:sym typeface="Roboto Mono"/>
              </a:rPr>
              <a:t>LogicalSort</a:t>
            </a:r>
            <a:r>
              <a:rPr lang="en" sz="1300">
                <a:solidFill>
                  <a:schemeClr val="dk1"/>
                </a:solidFill>
              </a:rPr>
              <a:t> → </a:t>
            </a:r>
            <a:r>
              <a:rPr lang="en" sz="1300">
                <a:solidFill>
                  <a:srgbClr val="188038"/>
                </a:solidFill>
                <a:latin typeface="Roboto Mono"/>
                <a:ea typeface="Roboto Mono"/>
                <a:cs typeface="Roboto Mono"/>
                <a:sym typeface="Roboto Mono"/>
              </a:rPr>
              <a:t>Sort</a:t>
            </a:r>
            <a:endParaRPr sz="1300">
              <a:solidFill>
                <a:srgbClr val="188038"/>
              </a:solidFill>
              <a:latin typeface="Roboto Mono"/>
              <a:ea typeface="Roboto Mono"/>
              <a:cs typeface="Roboto Mono"/>
              <a:sym typeface="Roboto Mono"/>
            </a:endParaRPr>
          </a:p>
          <a:p>
            <a:pPr indent="-311150" lvl="0" marL="457200" rtl="0" algn="l">
              <a:spcBef>
                <a:spcPts val="0"/>
              </a:spcBef>
              <a:spcAft>
                <a:spcPts val="0"/>
              </a:spcAft>
              <a:buClr>
                <a:schemeClr val="dk1"/>
              </a:buClr>
              <a:buSzPts val="1300"/>
              <a:buChar char="●"/>
            </a:pPr>
            <a:r>
              <a:rPr lang="en" sz="1300">
                <a:solidFill>
                  <a:srgbClr val="188038"/>
                </a:solidFill>
                <a:latin typeface="Roboto Mono"/>
                <a:ea typeface="Roboto Mono"/>
                <a:cs typeface="Roboto Mono"/>
                <a:sym typeface="Roboto Mono"/>
              </a:rPr>
              <a:t>LogicalJoin</a:t>
            </a:r>
            <a:r>
              <a:rPr lang="en" sz="1300">
                <a:solidFill>
                  <a:schemeClr val="dk1"/>
                </a:solidFill>
              </a:rPr>
              <a:t> → </a:t>
            </a:r>
            <a:r>
              <a:rPr lang="en" sz="1300">
                <a:solidFill>
                  <a:srgbClr val="188038"/>
                </a:solidFill>
                <a:latin typeface="Roboto Mono"/>
                <a:ea typeface="Roboto Mono"/>
                <a:cs typeface="Roboto Mono"/>
                <a:sym typeface="Roboto Mono"/>
              </a:rPr>
              <a:t>HashJoin</a:t>
            </a: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This mapping ensures SQL semantics are preserved and workflow JSON is correctly generated</a:t>
            </a:r>
            <a:endParaRPr sz="1300">
              <a:solidFill>
                <a:schemeClr val="dk1"/>
              </a:solidFill>
            </a:endParaRPr>
          </a:p>
          <a:p>
            <a:pPr indent="0" lvl="0" marL="457200" rtl="0" algn="l">
              <a:spcBef>
                <a:spcPts val="0"/>
              </a:spcBef>
              <a:spcAft>
                <a:spcPts val="1200"/>
              </a:spcAft>
              <a:buNone/>
            </a:pPr>
            <a:r>
              <a:t/>
            </a:r>
            <a:endParaRPr sz="1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Workflow Construction &amp; Operator Ordering</a:t>
            </a:r>
            <a:endParaRPr/>
          </a:p>
        </p:txBody>
      </p:sp>
      <p:sp>
        <p:nvSpPr>
          <p:cNvPr id="120" name="Google Shape;120;p23"/>
          <p:cNvSpPr txBox="1"/>
          <p:nvPr>
            <p:ph idx="1" type="body"/>
          </p:nvPr>
        </p:nvSpPr>
        <p:spPr>
          <a:xfrm>
            <a:off x="311700" y="1152475"/>
            <a:ext cx="5001000" cy="36630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Char char="●"/>
            </a:pPr>
            <a:r>
              <a:rPr lang="en" sz="1300">
                <a:solidFill>
                  <a:schemeClr val="dk1"/>
                </a:solidFill>
              </a:rPr>
              <a:t>After mapping, the system traverses the logical plan to determine operator dependencies.</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Operators are added to the workflow in execution order</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Column name normalization ensures operators reference consistent attributes.</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Correct ordering guarantees valid and executable Texera workflow JSON.</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 sz="1300">
                <a:solidFill>
                  <a:schemeClr val="dk1"/>
                </a:solidFill>
              </a:rPr>
              <a:t>This slide shows how SQL queries translate into workflows that are ready for execution with minimal user effort.</a:t>
            </a:r>
            <a:endParaRPr sz="1300">
              <a:solidFill>
                <a:schemeClr val="dk1"/>
              </a:solidFill>
            </a:endParaRPr>
          </a:p>
          <a:p>
            <a:pPr indent="0" lvl="0" marL="457200" rtl="0" algn="l">
              <a:lnSpc>
                <a:spcPct val="150000"/>
              </a:lnSpc>
              <a:spcBef>
                <a:spcPts val="0"/>
              </a:spcBef>
              <a:spcAft>
                <a:spcPts val="1200"/>
              </a:spcAft>
              <a:buNone/>
            </a:pPr>
            <a:r>
              <a:t/>
            </a:r>
            <a:endParaRPr sz="1300">
              <a:solidFill>
                <a:schemeClr val="dk1"/>
              </a:solidFill>
            </a:endParaRPr>
          </a:p>
        </p:txBody>
      </p:sp>
      <p:pic>
        <p:nvPicPr>
          <p:cNvPr id="121" name="Google Shape;121;p23" title="Screenshot 2025-12-19 at 12.53.40.png"/>
          <p:cNvPicPr preferRelativeResize="0"/>
          <p:nvPr/>
        </p:nvPicPr>
        <p:blipFill>
          <a:blip r:embed="rId3">
            <a:alphaModFix/>
          </a:blip>
          <a:stretch>
            <a:fillRect/>
          </a:stretch>
        </p:blipFill>
        <p:spPr>
          <a:xfrm>
            <a:off x="5608112" y="1649875"/>
            <a:ext cx="2880776" cy="1038050"/>
          </a:xfrm>
          <a:prstGeom prst="rect">
            <a:avLst/>
          </a:prstGeom>
          <a:noFill/>
          <a:ln>
            <a:noFill/>
          </a:ln>
        </p:spPr>
      </p:pic>
      <p:pic>
        <p:nvPicPr>
          <p:cNvPr id="122" name="Google Shape;122;p23" title="Screenshot 2025-12-19 at 12.54.22.png"/>
          <p:cNvPicPr preferRelativeResize="0"/>
          <p:nvPr/>
        </p:nvPicPr>
        <p:blipFill>
          <a:blip r:embed="rId4">
            <a:alphaModFix/>
          </a:blip>
          <a:stretch>
            <a:fillRect/>
          </a:stretch>
        </p:blipFill>
        <p:spPr>
          <a:xfrm>
            <a:off x="5392200" y="3472124"/>
            <a:ext cx="3312600" cy="958800"/>
          </a:xfrm>
          <a:prstGeom prst="rect">
            <a:avLst/>
          </a:prstGeom>
          <a:noFill/>
          <a:ln>
            <a:noFill/>
          </a:ln>
        </p:spPr>
      </p:pic>
      <p:sp>
        <p:nvSpPr>
          <p:cNvPr id="123" name="Google Shape;123;p23"/>
          <p:cNvSpPr/>
          <p:nvPr/>
        </p:nvSpPr>
        <p:spPr>
          <a:xfrm>
            <a:off x="6762750" y="2783425"/>
            <a:ext cx="571500" cy="524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Demonstration </a:t>
            </a:r>
            <a:endParaRPr/>
          </a:p>
        </p:txBody>
      </p:sp>
      <p:sp>
        <p:nvSpPr>
          <p:cNvPr id="129" name="Google Shape;12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descr="Translating SQL Queries into Workflow Graphs" id="130" name="Google Shape;130;p24" title="When GUI Workflow Met SQL (SIGMOD 2026 Demo submission)">
            <a:hlinkClick r:id="rId3"/>
          </p:cNvPr>
          <p:cNvPicPr preferRelativeResize="0"/>
          <p:nvPr/>
        </p:nvPicPr>
        <p:blipFill>
          <a:blip r:embed="rId4">
            <a:alphaModFix/>
          </a:blip>
          <a:stretch>
            <a:fillRect/>
          </a:stretch>
        </p:blipFill>
        <p:spPr>
          <a:xfrm>
            <a:off x="203950" y="235925"/>
            <a:ext cx="8520600" cy="47928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36" name="Google Shape;136;p25"/>
          <p:cNvSpPr txBox="1"/>
          <p:nvPr>
            <p:ph idx="1" type="body"/>
          </p:nvPr>
        </p:nvSpPr>
        <p:spPr>
          <a:xfrm>
            <a:off x="237625" y="1067800"/>
            <a:ext cx="8520600" cy="3416400"/>
          </a:xfrm>
          <a:prstGeom prst="rect">
            <a:avLst/>
          </a:prstGeom>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Clr>
                <a:schemeClr val="dk1"/>
              </a:buClr>
              <a:buSzPts val="1500"/>
              <a:buChar char="●"/>
            </a:pPr>
            <a:r>
              <a:rPr lang="en" sz="1500">
                <a:solidFill>
                  <a:schemeClr val="dk1"/>
                </a:solidFill>
              </a:rPr>
              <a:t>Developed a system that automatically converts SQL queries into Texera workflows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Preserves SQL semantics and handles operator ordering correctly</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Enables hybrid type inference or static schema choice for workflow generation</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Reduces manual effort in building workflows and lowers the barrier for SQL users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Supports education, collaboration, and reusability in visual analytics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The approach is extensible for more complex queries and future enhancements</a:t>
            </a:r>
            <a:endParaRPr sz="1500">
              <a:solidFill>
                <a:schemeClr val="dk1"/>
              </a:solidFill>
            </a:endParaRPr>
          </a:p>
          <a:p>
            <a:pPr indent="0" lvl="0" marL="457200" rtl="0" algn="l">
              <a:lnSpc>
                <a:spcPct val="150000"/>
              </a:lnSpc>
              <a:spcBef>
                <a:spcPts val="0"/>
              </a:spcBef>
              <a:spcAft>
                <a:spcPts val="1200"/>
              </a:spcAft>
              <a:buNone/>
            </a:pPr>
            <a:r>
              <a:t/>
            </a:r>
            <a:endParaRPr sz="3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